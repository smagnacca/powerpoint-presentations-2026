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e961293a7b942e1" /><Relationship Type="http://schemas.openxmlformats.org/officeDocument/2006/relationships/extended-properties" Target="/docProps/app.xml" Id="R38067327c58f4642" /><Relationship Type="http://schemas.openxmlformats.org/officeDocument/2006/relationships/officeDocument" Target="/ppt/presentation.xml" Id="Re11a6d0b3eae4db7" /></Relationships>
</file>

<file path=ppt/presentation.xml><?xml version="1.0" encoding="utf-8"?>
<p:presentation xmlns:p="http://schemas.openxmlformats.org/presentationml/2006/main">
  <p:sldMasterIdLst>
    <p:sldMasterId xmlns:r="http://schemas.openxmlformats.org/officeDocument/2006/relationships" id="2147483648" r:id="Rc3ee99d5126a48b4"/>
  </p:sldMasterIdLst>
  <p:notesMasterIdLst>
    <p:notesMasterId xmlns:r="http://schemas.openxmlformats.org/officeDocument/2006/relationships" r:id="Rcff92ff234f94457"/>
  </p:notesMasterIdLst>
  <p:sldIdLst>
    <p:sldId xmlns:r="http://schemas.openxmlformats.org/officeDocument/2006/relationships" id="256" r:id="R5353723b07cd462b"/>
    <p:sldId xmlns:r="http://schemas.openxmlformats.org/officeDocument/2006/relationships" id="257" r:id="R7387a21d5a954111"/>
  </p:sldIdLst>
  <p:sldSz cx="9144000" cy="84772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fab46a3c49d4acc" /><Relationship Type="http://schemas.openxmlformats.org/officeDocument/2006/relationships/slideMaster" Target="/ppt/slideMasters/slideMaster1.xml" Id="Rc3ee99d5126a48b4" /><Relationship Type="http://schemas.openxmlformats.org/officeDocument/2006/relationships/notesMaster" Target="/ppt/notesMasters/notesMaster1.xml" Id="Rcff92ff234f94457" /><Relationship Type="http://schemas.openxmlformats.org/officeDocument/2006/relationships/presProps" Target="/ppt/presProps.xml" Id="R81a99e4f0b0142fa" /><Relationship Type="http://schemas.openxmlformats.org/officeDocument/2006/relationships/tableStyles" Target="/ppt/tableStyles.xml" Id="R7c6b82a26f034522" /><Relationship Type="http://schemas.openxmlformats.org/officeDocument/2006/relationships/slide" Target="/ppt/slides/slide1.xml" Id="R5353723b07cd462b" /><Relationship Type="http://schemas.openxmlformats.org/officeDocument/2006/relationships/slide" Target="/ppt/slides/slide2.xml" Id="R7387a21d5a9541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157801710fc4c8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c6273ae43e34d6e" /><Relationship Type="http://schemas.openxmlformats.org/officeDocument/2006/relationships/notesMaster" Target="/ppt/notesMasters/notesMaster1.xml" Id="Ra4e35cee54f94a7f" /></Relationships>
</file>

<file path=ppt/notesSlides/_rels/notesSlide2.xml.rels>&#65279;<?xml version="1.0" encoding="utf-8"?><Relationships xmlns="http://schemas.openxmlformats.org/package/2006/relationships"><Relationship Type="http://schemas.openxmlformats.org/officeDocument/2006/relationships/slide" Target="/ppt/slides/slide2.xml" Id="R6c4933987ae243c6" /><Relationship Type="http://schemas.openxmlformats.org/officeDocument/2006/relationships/notesMaster" Target="/ppt/notesMasters/notesMaster1.xml" Id="R92ff43f4f5934b4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audit: The Science record reports a preregistered online experiment with 453 college-educated professionals. Average time decreased by 40% and output quality rose by 18%. The card preserves the study's task-level scope and does not generalize the result to all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audit: NBER reports 5,179 customer-support agents, a 14% average productivity increase, and a 34% increase for novice and low-skilled workers on the current public summary. McKinsey's 2024 survey reports respondents seeing cost decreases and revenue increases in business units deploying gen AI. The card labels the McKinsey evidence as self-reported and avoids causal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26c61e559d6499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ee75655d66a4579" /><Relationship Type="http://schemas.openxmlformats.org/officeDocument/2006/relationships/slideLayout" Target="/ppt/slideLayouts/slideLayout1.xml" Id="R17e23e9f24684e4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7e23e9f24684e4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7503239e3e3403a" /><Relationship Type="http://schemas.openxmlformats.org/officeDocument/2006/relationships/notesSlide" Target="/ppt/notesSlides/notesSlide1.xml" Id="Reb452dc377a8471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e54e6fb36af4ed4" /><Relationship Type="http://schemas.openxmlformats.org/officeDocument/2006/relationships/notesSlide" Target="/ppt/notesSlides/notesSlide2.xml" Id="R0207926f69a34299" /></Relationships>
</file>

<file path=ppt/slides/slide1.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48353E9F-712A-4A82-975B-2A4CBCD901FE}"/>
              </a:ext>
            </a:extLst>
          </p:cNvPr>
          <p:cNvSpPr>
            <a:spLocks xmlns:a="http://schemas.openxmlformats.org/drawingml/2006/main" noGrp="1"/>
          </p:cNvSpPr>
          <p:nvPr/>
        </p:nvSpPr>
        <p:spPr>
          <a:xfrm xmlns:a="http://schemas.openxmlformats.org/drawingml/2006/main">
            <a:off x="628650" y="552450"/>
            <a:ext cx="171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007AFF"/>
                </a:solidFill>
                <a:latin typeface="Arial"/>
                <a:ea typeface="Arial"/>
                <a:cs typeface="Arial"/>
              </a:defRPr>
            </a:pPr>
            <a:r>
              <a:rPr sz="975" b="1" i="0">
                <a:solidFill>
                  <a:srgbClr val="007AFF"/>
                </a:solidFill>
                <a:latin typeface="Arial"/>
                <a:ea typeface="Arial"/>
                <a:cs typeface="Arial"/>
              </a:rPr>
              <a:t>RESEARCH CARD</a:t>
            </a:r>
          </a:p>
        </p:txBody>
      </p:sp>
      <p:sp>
        <p:nvSpPr>
          <p:cNvPr id="2" name="">
            <a:extLst xmlns:a="http://schemas.openxmlformats.org/drawingml/2006/main">
              <a:ext uri="{FF2B5EF4-FFF2-40B4-BE49-F238E27FC236}">
                <a16:creationId xmlns:a16="http://schemas.microsoft.com/office/drawing/2014/main" id="{B853F731-EF98-4BBE-A5A7-E2048448F394}"/>
              </a:ext>
            </a:extLst>
          </p:cNvPr>
          <p:cNvSpPr>
            <a:spLocks xmlns:a="http://schemas.openxmlformats.org/drawingml/2006/main" noGrp="1"/>
          </p:cNvSpPr>
          <p:nvPr/>
        </p:nvSpPr>
        <p:spPr>
          <a:xfrm xmlns:a="http://schemas.openxmlformats.org/drawingml/2006/main">
            <a:off x="6191250" y="552450"/>
            <a:ext cx="2324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i="0">
                <a:solidFill>
                  <a:srgbClr val="687386"/>
                </a:solidFill>
                <a:latin typeface="Arial"/>
                <a:ea typeface="Arial"/>
                <a:cs typeface="Arial"/>
              </a:defRPr>
            </a:pPr>
            <a:r>
              <a:rPr sz="825" b="0" i="0">
                <a:solidFill>
                  <a:srgbClr val="687386"/>
                </a:solidFill>
                <a:latin typeface="Arial"/>
                <a:ea typeface="Arial"/>
                <a:cs typeface="Arial"/>
              </a:rPr>
              <a:t>EMPLOYEE PERSPECTIVE</a:t>
            </a:r>
          </a:p>
        </p:txBody>
      </p:sp>
      <p:sp>
        <p:nvSpPr>
          <p:cNvPr id="3" name="">
            <a:extLst xmlns:a="http://schemas.openxmlformats.org/drawingml/2006/main">
              <a:ext uri="{FF2B5EF4-FFF2-40B4-BE49-F238E27FC236}">
                <a16:creationId xmlns:a16="http://schemas.microsoft.com/office/drawing/2014/main" id="{8B7947AB-0DDC-43D9-9C21-4B73C67DB013}"/>
              </a:ext>
            </a:extLst>
          </p:cNvPr>
          <p:cNvSpPr>
            <a:spLocks xmlns:a="http://schemas.openxmlformats.org/drawingml/2006/main" noGrp="1"/>
          </p:cNvSpPr>
          <p:nvPr/>
        </p:nvSpPr>
        <p:spPr>
          <a:xfrm xmlns:a="http://schemas.openxmlformats.org/drawingml/2006/main">
            <a:off x="628650" y="800100"/>
            <a:ext cx="7886700" cy="9525"/>
          </a:xfrm>
          <a:prstGeom xmlns:a="http://schemas.openxmlformats.org/drawingml/2006/main" prst="rect">
            <a:avLst/>
          </a:prstGeom>
          <a:solidFill xmlns:a="http://schemas.openxmlformats.org/drawingml/2006/main">
            <a:srgbClr val="24293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7A1F675-883F-4A7B-A5C0-2A79FC2CB58B}"/>
              </a:ext>
            </a:extLst>
          </p:cNvPr>
          <p:cNvSpPr>
            <a:spLocks xmlns:a="http://schemas.openxmlformats.org/drawingml/2006/main" noGrp="1"/>
          </p:cNvSpPr>
          <p:nvPr/>
        </p:nvSpPr>
        <p:spPr>
          <a:xfrm xmlns:a="http://schemas.openxmlformats.org/drawingml/2006/main">
            <a:off x="628650" y="1066800"/>
            <a:ext cx="1504950" cy="1657350"/>
          </a:xfrm>
          <a:prstGeom xmlns:a="http://schemas.openxmlformats.org/drawingml/2006/main" prst="roundRect">
            <a:avLst>
              <a:gd name="adj" fmla="val 7595"/>
            </a:avLst>
          </a:prstGeom>
          <a:gradFill xmlns:a="http://schemas.openxmlformats.org/drawingml/2006/main">
            <a:gsLst>
              <a:gs pos="0">
                <a:srgbClr val="007AFF"/>
              </a:gs>
              <a:gs pos="100000">
                <a:srgbClr val="0B3D78"/>
              </a:gs>
            </a:gsLst>
            <a:lin ang="8100000"/>
          </a:gra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23EF4C8-3CB3-4584-BFFC-8F8AF7D209BE}"/>
              </a:ext>
            </a:extLst>
          </p:cNvPr>
          <p:cNvSpPr>
            <a:spLocks xmlns:a="http://schemas.openxmlformats.org/drawingml/2006/main" noGrp="1"/>
          </p:cNvSpPr>
          <p:nvPr/>
        </p:nvSpPr>
        <p:spPr>
          <a:xfrm xmlns:a="http://schemas.openxmlformats.org/drawingml/2006/main">
            <a:off x="800100" y="1390650"/>
            <a:ext cx="1162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i="0">
                <a:solidFill>
                  <a:srgbClr val="FFFFFF"/>
                </a:solidFill>
                <a:latin typeface="Arial"/>
                <a:ea typeface="Arial"/>
                <a:cs typeface="Arial"/>
              </a:defRPr>
            </a:pPr>
            <a:r>
              <a:rPr sz="3825" b="1" i="0">
                <a:solidFill>
                  <a:srgbClr val="FFFFFF"/>
                </a:solidFill>
                <a:latin typeface="Arial"/>
                <a:ea typeface="Arial"/>
                <a:cs typeface="Arial"/>
              </a:rPr>
              <a:t>40%</a:t>
            </a:r>
          </a:p>
        </p:txBody>
      </p:sp>
      <p:sp>
        <p:nvSpPr>
          <p:cNvPr id="6" name="">
            <a:extLst xmlns:a="http://schemas.openxmlformats.org/drawingml/2006/main">
              <a:ext uri="{FF2B5EF4-FFF2-40B4-BE49-F238E27FC236}">
                <a16:creationId xmlns:a16="http://schemas.microsoft.com/office/drawing/2014/main" id="{9A05976E-E3FB-47C9-BEA5-C0252ECBE7B8}"/>
              </a:ext>
            </a:extLst>
          </p:cNvPr>
          <p:cNvSpPr>
            <a:spLocks xmlns:a="http://schemas.openxmlformats.org/drawingml/2006/main" noGrp="1"/>
          </p:cNvSpPr>
          <p:nvPr/>
        </p:nvSpPr>
        <p:spPr>
          <a:xfrm xmlns:a="http://schemas.openxmlformats.org/drawingml/2006/main">
            <a:off x="704850" y="1943100"/>
            <a:ext cx="1352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i="0">
                <a:solidFill>
                  <a:srgbClr val="F5A623"/>
                </a:solidFill>
                <a:latin typeface="Arial"/>
                <a:ea typeface="Arial"/>
                <a:cs typeface="Arial"/>
              </a:defRPr>
            </a:pPr>
            <a:r>
              <a:rPr sz="1350" b="1" i="0">
                <a:solidFill>
                  <a:srgbClr val="F5A623"/>
                </a:solidFill>
                <a:latin typeface="Arial"/>
                <a:ea typeface="Arial"/>
                <a:cs typeface="Arial"/>
              </a:rPr>
              <a:t>LESS TIME</a:t>
            </a:r>
          </a:p>
        </p:txBody>
      </p:sp>
      <p:sp>
        <p:nvSpPr>
          <p:cNvPr id="7" name="">
            <a:extLst xmlns:a="http://schemas.openxmlformats.org/drawingml/2006/main">
              <a:ext uri="{FF2B5EF4-FFF2-40B4-BE49-F238E27FC236}">
                <a16:creationId xmlns:a16="http://schemas.microsoft.com/office/drawing/2014/main" id="{4B77603C-87F1-4A86-A90B-A8C574CAA8B9}"/>
              </a:ext>
            </a:extLst>
          </p:cNvPr>
          <p:cNvSpPr>
            <a:spLocks xmlns:a="http://schemas.openxmlformats.org/drawingml/2006/main" noGrp="1"/>
          </p:cNvSpPr>
          <p:nvPr/>
        </p:nvSpPr>
        <p:spPr>
          <a:xfrm xmlns:a="http://schemas.openxmlformats.org/drawingml/2006/main">
            <a:off x="704850" y="2419350"/>
            <a:ext cx="13525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i="0">
                <a:solidFill>
                  <a:srgbClr val="FFFFFF"/>
                </a:solidFill>
                <a:latin typeface="Arial"/>
                <a:ea typeface="Arial"/>
                <a:cs typeface="Arial"/>
              </a:defRPr>
            </a:pPr>
            <a:r>
              <a:rPr sz="1013" b="0" i="0">
                <a:solidFill>
                  <a:srgbClr val="FFFFFF"/>
                </a:solidFill>
                <a:latin typeface="Arial"/>
                <a:ea typeface="Arial"/>
                <a:cs typeface="Arial"/>
              </a:rPr>
              <a:t>18% BETTER</a:t>
            </a:r>
          </a:p>
        </p:txBody>
      </p:sp>
      <p:sp>
        <p:nvSpPr>
          <p:cNvPr id="8" name="">
            <a:extLst xmlns:a="http://schemas.openxmlformats.org/drawingml/2006/main">
              <a:ext uri="{FF2B5EF4-FFF2-40B4-BE49-F238E27FC236}">
                <a16:creationId xmlns:a16="http://schemas.microsoft.com/office/drawing/2014/main" id="{68C1E10E-30AF-4AEF-8FEC-BBCCD92952BF}"/>
              </a:ext>
            </a:extLst>
          </p:cNvPr>
          <p:cNvSpPr>
            <a:spLocks xmlns:a="http://schemas.openxmlformats.org/drawingml/2006/main" noGrp="1"/>
          </p:cNvSpPr>
          <p:nvPr/>
        </p:nvSpPr>
        <p:spPr>
          <a:xfrm xmlns:a="http://schemas.openxmlformats.org/drawingml/2006/main">
            <a:off x="2362200" y="1104900"/>
            <a:ext cx="6019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i="0">
                <a:solidFill>
                  <a:srgbClr val="161A22"/>
                </a:solidFill>
                <a:latin typeface="Georgia"/>
                <a:ea typeface="Georgia"/>
                <a:cs typeface="Georgia"/>
              </a:defRPr>
            </a:pPr>
            <a:r>
              <a:rPr sz="2175" b="1" i="0">
                <a:solidFill>
                  <a:srgbClr val="161A22"/>
                </a:solidFill>
                <a:latin typeface="Georgia"/>
                <a:ea typeface="Georgia"/>
                <a:cs typeface="Georgia"/>
              </a:rPr>
              <a:t>Collaborative AI helps employees work faster and learn while they work</a:t>
            </a:r>
          </a:p>
        </p:txBody>
      </p:sp>
      <p:sp>
        <p:nvSpPr>
          <p:cNvPr id="9" name="">
            <a:extLst xmlns:a="http://schemas.openxmlformats.org/drawingml/2006/main">
              <a:ext uri="{FF2B5EF4-FFF2-40B4-BE49-F238E27FC236}">
                <a16:creationId xmlns:a16="http://schemas.microsoft.com/office/drawing/2014/main" id="{8DC6D9E6-1ACA-403E-95C2-6B580D28F92C}"/>
              </a:ext>
            </a:extLst>
          </p:cNvPr>
          <p:cNvSpPr>
            <a:spLocks xmlns:a="http://schemas.openxmlformats.org/drawingml/2006/main" noGrp="1"/>
          </p:cNvSpPr>
          <p:nvPr/>
        </p:nvSpPr>
        <p:spPr>
          <a:xfrm xmlns:a="http://schemas.openxmlformats.org/drawingml/2006/main">
            <a:off x="2362200" y="2038350"/>
            <a:ext cx="5905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1">
                <a:solidFill>
                  <a:srgbClr val="687386"/>
                </a:solidFill>
                <a:latin typeface="Georgia"/>
                <a:ea typeface="Georgia"/>
                <a:cs typeface="Georgia"/>
              </a:defRPr>
            </a:pPr>
            <a:r>
              <a:rPr sz="1350" b="0" i="1">
                <a:solidFill>
                  <a:srgbClr val="687386"/>
                </a:solidFill>
                <a:latin typeface="Georgia"/>
                <a:ea typeface="Georgia"/>
                <a:cs typeface="Georgia"/>
              </a:rPr>
              <a:t>When people learn to direct, question, and apply AI output, the gains can improve both speed and quality.</a:t>
            </a:r>
          </a:p>
        </p:txBody>
      </p:sp>
      <p:sp>
        <p:nvSpPr>
          <p:cNvPr id="10" name="">
            <a:extLst xmlns:a="http://schemas.openxmlformats.org/drawingml/2006/main">
              <a:ext uri="{FF2B5EF4-FFF2-40B4-BE49-F238E27FC236}">
                <a16:creationId xmlns:a16="http://schemas.microsoft.com/office/drawing/2014/main" id="{E062CFDB-5FFA-4E09-B81F-B7647C0A5451}"/>
              </a:ext>
            </a:extLst>
          </p:cNvPr>
          <p:cNvSpPr>
            <a:spLocks xmlns:a="http://schemas.openxmlformats.org/drawingml/2006/main" noGrp="1"/>
          </p:cNvSpPr>
          <p:nvPr/>
        </p:nvSpPr>
        <p:spPr>
          <a:xfrm xmlns:a="http://schemas.openxmlformats.org/drawingml/2006/main">
            <a:off x="628650" y="2876550"/>
            <a:ext cx="78867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i="0">
                <a:solidFill>
                  <a:srgbClr val="161A22"/>
                </a:solidFill>
                <a:latin typeface="Georgia"/>
                <a:ea typeface="Georgia"/>
                <a:cs typeface="Georgia"/>
              </a:defRPr>
            </a:pPr>
            <a:r>
              <a:rPr sz="1500" b="0" i="0">
                <a:solidFill>
                  <a:srgbClr val="161A22"/>
                </a:solidFill>
                <a:latin typeface="Georgia"/>
                <a:ea typeface="Georgia"/>
                <a:cs typeface="Georgia"/>
              </a:rPr>
              <a:t>In a preregistered experiment, 453 college-educated professionals completed incentivized writing tasks with or without ChatGPT. AI-assisted participants took 40% less time, while independent raters scored their work 18% higher in quality.</a:t>
            </a:r>
          </a:p>
        </p:txBody>
      </p:sp>
      <p:sp>
        <p:nvSpPr>
          <p:cNvPr id="11" name="">
            <a:extLst xmlns:a="http://schemas.openxmlformats.org/drawingml/2006/main">
              <a:ext uri="{FF2B5EF4-FFF2-40B4-BE49-F238E27FC236}">
                <a16:creationId xmlns:a16="http://schemas.microsoft.com/office/drawing/2014/main" id="{A59AA7DF-9B19-4A3F-B7DA-123BE8363E23}"/>
              </a:ext>
            </a:extLst>
          </p:cNvPr>
          <p:cNvSpPr>
            <a:spLocks xmlns:a="http://schemas.openxmlformats.org/drawingml/2006/main" noGrp="1"/>
          </p:cNvSpPr>
          <p:nvPr/>
        </p:nvSpPr>
        <p:spPr>
          <a:xfrm xmlns:a="http://schemas.openxmlformats.org/drawingml/2006/main">
            <a:off x="628650" y="4114800"/>
            <a:ext cx="114300" cy="114300"/>
          </a:xfrm>
          <a:prstGeom xmlns:a="http://schemas.openxmlformats.org/drawingml/2006/main" prst="ellipse">
            <a:avLst/>
          </a:prstGeom>
          <a:solidFill xmlns:a="http://schemas.openxmlformats.org/drawingml/2006/main">
            <a:srgbClr val="F5A62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D8AD6D9-AAEB-4664-978F-90BE5112C489}"/>
              </a:ext>
            </a:extLst>
          </p:cNvPr>
          <p:cNvSpPr>
            <a:spLocks xmlns:a="http://schemas.openxmlformats.org/drawingml/2006/main" noGrp="1"/>
          </p:cNvSpPr>
          <p:nvPr/>
        </p:nvSpPr>
        <p:spPr>
          <a:xfrm xmlns:a="http://schemas.openxmlformats.org/drawingml/2006/main">
            <a:off x="838200" y="4038600"/>
            <a:ext cx="166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88" b="1" i="0">
                <a:solidFill>
                  <a:srgbClr val="161A22"/>
                </a:solidFill>
                <a:latin typeface="Arial"/>
                <a:ea typeface="Arial"/>
                <a:cs typeface="Arial"/>
              </a:defRPr>
            </a:pPr>
            <a:r>
              <a:rPr sz="1688" b="1" i="0">
                <a:solidFill>
                  <a:srgbClr val="161A22"/>
                </a:solidFill>
                <a:latin typeface="Arial"/>
                <a:ea typeface="Arial"/>
                <a:cs typeface="Arial"/>
              </a:rPr>
              <a:t>The result</a:t>
            </a:r>
          </a:p>
        </p:txBody>
      </p:sp>
      <p:sp>
        <p:nvSpPr>
          <p:cNvPr id="13" name="">
            <a:extLst xmlns:a="http://schemas.openxmlformats.org/drawingml/2006/main">
              <a:ext uri="{FF2B5EF4-FFF2-40B4-BE49-F238E27FC236}">
                <a16:creationId xmlns:a16="http://schemas.microsoft.com/office/drawing/2014/main" id="{46D687D9-934D-425D-AE92-509329AD346E}"/>
              </a:ext>
            </a:extLst>
          </p:cNvPr>
          <p:cNvSpPr>
            <a:spLocks xmlns:a="http://schemas.openxmlformats.org/drawingml/2006/main" noGrp="1"/>
          </p:cNvSpPr>
          <p:nvPr/>
        </p:nvSpPr>
        <p:spPr>
          <a:xfrm xmlns:a="http://schemas.openxmlformats.org/drawingml/2006/main">
            <a:off x="2667000" y="4038600"/>
            <a:ext cx="584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i="0">
                <a:solidFill>
                  <a:srgbClr val="161A22"/>
                </a:solidFill>
                <a:latin typeface="Arial"/>
                <a:ea typeface="Arial"/>
                <a:cs typeface="Arial"/>
              </a:defRPr>
            </a:pPr>
            <a:r>
              <a:rPr sz="1575" b="0" i="0">
                <a:solidFill>
                  <a:srgbClr val="161A22"/>
                </a:solidFill>
                <a:latin typeface="Arial"/>
                <a:ea typeface="Arial"/>
                <a:cs typeface="Arial"/>
              </a:rPr>
              <a:t>AI cut task time and improved assessed quality in the experiment.</a:t>
            </a:r>
          </a:p>
        </p:txBody>
      </p:sp>
      <p:sp>
        <p:nvSpPr>
          <p:cNvPr id="14" name="">
            <a:extLst xmlns:a="http://schemas.openxmlformats.org/drawingml/2006/main">
              <a:ext uri="{FF2B5EF4-FFF2-40B4-BE49-F238E27FC236}">
                <a16:creationId xmlns:a16="http://schemas.microsoft.com/office/drawing/2014/main" id="{A4BA9E0B-DB6A-40C4-91E6-F6E32FE3F906}"/>
              </a:ext>
            </a:extLst>
          </p:cNvPr>
          <p:cNvSpPr>
            <a:spLocks xmlns:a="http://schemas.openxmlformats.org/drawingml/2006/main" noGrp="1"/>
          </p:cNvSpPr>
          <p:nvPr/>
        </p:nvSpPr>
        <p:spPr>
          <a:xfrm xmlns:a="http://schemas.openxmlformats.org/drawingml/2006/main">
            <a:off x="628650" y="4705350"/>
            <a:ext cx="7886700" cy="9525"/>
          </a:xfrm>
          <a:prstGeom xmlns:a="http://schemas.openxmlformats.org/drawingml/2006/main" prst="rect">
            <a:avLst/>
          </a:prstGeom>
          <a:solidFill xmlns:a="http://schemas.openxmlformats.org/drawingml/2006/main">
            <a:srgbClr val="D9DDE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03C65A5-ACC5-4BC5-9295-002CE2FB9CC3}"/>
              </a:ext>
            </a:extLst>
          </p:cNvPr>
          <p:cNvSpPr>
            <a:spLocks xmlns:a="http://schemas.openxmlformats.org/drawingml/2006/main" noGrp="1"/>
          </p:cNvSpPr>
          <p:nvPr/>
        </p:nvSpPr>
        <p:spPr>
          <a:xfrm xmlns:a="http://schemas.openxmlformats.org/drawingml/2006/main">
            <a:off x="628650" y="4800600"/>
            <a:ext cx="114300" cy="114300"/>
          </a:xfrm>
          <a:prstGeom xmlns:a="http://schemas.openxmlformats.org/drawingml/2006/main" prst="ellipse">
            <a:avLst/>
          </a:prstGeom>
          <a:solidFill xmlns:a="http://schemas.openxmlformats.org/drawingml/2006/main">
            <a:srgbClr val="F5A62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5B88C5B-89F6-414F-961D-E8907C3EDA2E}"/>
              </a:ext>
            </a:extLst>
          </p:cNvPr>
          <p:cNvSpPr>
            <a:spLocks xmlns:a="http://schemas.openxmlformats.org/drawingml/2006/main" noGrp="1"/>
          </p:cNvSpPr>
          <p:nvPr/>
        </p:nvSpPr>
        <p:spPr>
          <a:xfrm xmlns:a="http://schemas.openxmlformats.org/drawingml/2006/main">
            <a:off x="838200" y="4724400"/>
            <a:ext cx="166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88" b="1" i="0">
                <a:solidFill>
                  <a:srgbClr val="161A22"/>
                </a:solidFill>
                <a:latin typeface="Arial"/>
                <a:ea typeface="Arial"/>
                <a:cs typeface="Arial"/>
              </a:defRPr>
            </a:pPr>
            <a:r>
              <a:rPr sz="1688" b="1" i="0">
                <a:solidFill>
                  <a:srgbClr val="161A22"/>
                </a:solidFill>
                <a:latin typeface="Arial"/>
                <a:ea typeface="Arial"/>
                <a:cs typeface="Arial"/>
              </a:rPr>
              <a:t>The boundary</a:t>
            </a:r>
          </a:p>
        </p:txBody>
      </p:sp>
      <p:sp>
        <p:nvSpPr>
          <p:cNvPr id="17" name="">
            <a:extLst xmlns:a="http://schemas.openxmlformats.org/drawingml/2006/main">
              <a:ext uri="{FF2B5EF4-FFF2-40B4-BE49-F238E27FC236}">
                <a16:creationId xmlns:a16="http://schemas.microsoft.com/office/drawing/2014/main" id="{F4D2EA70-8022-4682-8922-9042D05A397B}"/>
              </a:ext>
            </a:extLst>
          </p:cNvPr>
          <p:cNvSpPr>
            <a:spLocks xmlns:a="http://schemas.openxmlformats.org/drawingml/2006/main" noGrp="1"/>
          </p:cNvSpPr>
          <p:nvPr/>
        </p:nvSpPr>
        <p:spPr>
          <a:xfrm xmlns:a="http://schemas.openxmlformats.org/drawingml/2006/main">
            <a:off x="2667000" y="4724400"/>
            <a:ext cx="584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i="0">
                <a:solidFill>
                  <a:srgbClr val="161A22"/>
                </a:solidFill>
                <a:latin typeface="Arial"/>
                <a:ea typeface="Arial"/>
                <a:cs typeface="Arial"/>
              </a:defRPr>
            </a:pPr>
            <a:r>
              <a:rPr sz="1575" b="0" i="0">
                <a:solidFill>
                  <a:srgbClr val="161A22"/>
                </a:solidFill>
                <a:latin typeface="Arial"/>
                <a:ea typeface="Arial"/>
                <a:cs typeface="Arial"/>
              </a:rPr>
              <a:t>The evidence covers writing tasks, not every job or workflow.</a:t>
            </a:r>
          </a:p>
        </p:txBody>
      </p:sp>
      <p:sp>
        <p:nvSpPr>
          <p:cNvPr id="18" name="">
            <a:extLst xmlns:a="http://schemas.openxmlformats.org/drawingml/2006/main">
              <a:ext uri="{FF2B5EF4-FFF2-40B4-BE49-F238E27FC236}">
                <a16:creationId xmlns:a16="http://schemas.microsoft.com/office/drawing/2014/main" id="{C273E721-85EA-4F84-9CAC-BF028C3A54D6}"/>
              </a:ext>
            </a:extLst>
          </p:cNvPr>
          <p:cNvSpPr>
            <a:spLocks xmlns:a="http://schemas.openxmlformats.org/drawingml/2006/main" noGrp="1"/>
          </p:cNvSpPr>
          <p:nvPr/>
        </p:nvSpPr>
        <p:spPr>
          <a:xfrm xmlns:a="http://schemas.openxmlformats.org/drawingml/2006/main">
            <a:off x="628650" y="5391150"/>
            <a:ext cx="7886700" cy="9525"/>
          </a:xfrm>
          <a:prstGeom xmlns:a="http://schemas.openxmlformats.org/drawingml/2006/main" prst="rect">
            <a:avLst/>
          </a:prstGeom>
          <a:solidFill xmlns:a="http://schemas.openxmlformats.org/drawingml/2006/main">
            <a:srgbClr val="D9DDE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36E7911-5446-4C76-90A1-DBC76EB77EDC}"/>
              </a:ext>
            </a:extLst>
          </p:cNvPr>
          <p:cNvSpPr>
            <a:spLocks xmlns:a="http://schemas.openxmlformats.org/drawingml/2006/main" noGrp="1"/>
          </p:cNvSpPr>
          <p:nvPr/>
        </p:nvSpPr>
        <p:spPr>
          <a:xfrm xmlns:a="http://schemas.openxmlformats.org/drawingml/2006/main">
            <a:off x="628650" y="5486400"/>
            <a:ext cx="114300" cy="114300"/>
          </a:xfrm>
          <a:prstGeom xmlns:a="http://schemas.openxmlformats.org/drawingml/2006/main" prst="ellipse">
            <a:avLst/>
          </a:prstGeom>
          <a:solidFill xmlns:a="http://schemas.openxmlformats.org/drawingml/2006/main">
            <a:srgbClr val="F5A62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F19A82B-A8AA-4D83-BF8B-6F07FBBB7ED7}"/>
              </a:ext>
            </a:extLst>
          </p:cNvPr>
          <p:cNvSpPr>
            <a:spLocks xmlns:a="http://schemas.openxmlformats.org/drawingml/2006/main" noGrp="1"/>
          </p:cNvSpPr>
          <p:nvPr/>
        </p:nvSpPr>
        <p:spPr>
          <a:xfrm xmlns:a="http://schemas.openxmlformats.org/drawingml/2006/main">
            <a:off x="838200" y="5410200"/>
            <a:ext cx="166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88" b="1" i="0">
                <a:solidFill>
                  <a:srgbClr val="161A22"/>
                </a:solidFill>
                <a:latin typeface="Arial"/>
                <a:ea typeface="Arial"/>
                <a:cs typeface="Arial"/>
              </a:defRPr>
            </a:pPr>
            <a:r>
              <a:rPr sz="1688" b="1" i="0">
                <a:solidFill>
                  <a:srgbClr val="161A22"/>
                </a:solidFill>
                <a:latin typeface="Arial"/>
                <a:ea typeface="Arial"/>
                <a:cs typeface="Arial"/>
              </a:rPr>
              <a:t>Employee role</a:t>
            </a:r>
          </a:p>
        </p:txBody>
      </p:sp>
      <p:sp>
        <p:nvSpPr>
          <p:cNvPr id="21" name="">
            <a:extLst xmlns:a="http://schemas.openxmlformats.org/drawingml/2006/main">
              <a:ext uri="{FF2B5EF4-FFF2-40B4-BE49-F238E27FC236}">
                <a16:creationId xmlns:a16="http://schemas.microsoft.com/office/drawing/2014/main" id="{97E4E6A0-64FC-463D-AED6-90C6360C049D}"/>
              </a:ext>
            </a:extLst>
          </p:cNvPr>
          <p:cNvSpPr>
            <a:spLocks xmlns:a="http://schemas.openxmlformats.org/drawingml/2006/main" noGrp="1"/>
          </p:cNvSpPr>
          <p:nvPr/>
        </p:nvSpPr>
        <p:spPr>
          <a:xfrm xmlns:a="http://schemas.openxmlformats.org/drawingml/2006/main">
            <a:off x="2667000" y="5410200"/>
            <a:ext cx="584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i="0">
                <a:solidFill>
                  <a:srgbClr val="161A22"/>
                </a:solidFill>
                <a:latin typeface="Arial"/>
                <a:ea typeface="Arial"/>
                <a:cs typeface="Arial"/>
              </a:defRPr>
            </a:pPr>
            <a:r>
              <a:rPr sz="1575" b="0" i="0">
                <a:solidFill>
                  <a:srgbClr val="161A22"/>
                </a:solidFill>
                <a:latin typeface="Arial"/>
                <a:ea typeface="Arial"/>
                <a:cs typeface="Arial"/>
              </a:rPr>
              <a:t>Employees still frame, inspect, and own the decision.</a:t>
            </a:r>
          </a:p>
        </p:txBody>
      </p:sp>
      <p:sp>
        <p:nvSpPr>
          <p:cNvPr id="22" name="">
            <a:extLst xmlns:a="http://schemas.openxmlformats.org/drawingml/2006/main">
              <a:ext uri="{FF2B5EF4-FFF2-40B4-BE49-F238E27FC236}">
                <a16:creationId xmlns:a16="http://schemas.microsoft.com/office/drawing/2014/main" id="{D3143B24-0454-4AA3-B9E2-D36EC400B2C3}"/>
              </a:ext>
            </a:extLst>
          </p:cNvPr>
          <p:cNvSpPr>
            <a:spLocks xmlns:a="http://schemas.openxmlformats.org/drawingml/2006/main" noGrp="1"/>
          </p:cNvSpPr>
          <p:nvPr/>
        </p:nvSpPr>
        <p:spPr>
          <a:xfrm xmlns:a="http://schemas.openxmlformats.org/drawingml/2006/main">
            <a:off x="628650" y="6076950"/>
            <a:ext cx="7886700" cy="9525"/>
          </a:xfrm>
          <a:prstGeom xmlns:a="http://schemas.openxmlformats.org/drawingml/2006/main" prst="rect">
            <a:avLst/>
          </a:prstGeom>
          <a:solidFill xmlns:a="http://schemas.openxmlformats.org/drawingml/2006/main">
            <a:srgbClr val="D9DDE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0586C25-706C-4D54-B9E0-10E7716B10CF}"/>
              </a:ext>
            </a:extLst>
          </p:cNvPr>
          <p:cNvSpPr>
            <a:spLocks xmlns:a="http://schemas.openxmlformats.org/drawingml/2006/main" noGrp="1"/>
          </p:cNvSpPr>
          <p:nvPr/>
        </p:nvSpPr>
        <p:spPr>
          <a:xfrm xmlns:a="http://schemas.openxmlformats.org/drawingml/2006/main">
            <a:off x="628650" y="6324600"/>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007AFF"/>
                </a:solidFill>
                <a:latin typeface="Arial"/>
                <a:ea typeface="Arial"/>
                <a:cs typeface="Arial"/>
              </a:defRPr>
            </a:pPr>
            <a:r>
              <a:rPr sz="900" b="1" i="0">
                <a:solidFill>
                  <a:srgbClr val="007AFF"/>
                </a:solidFill>
                <a:latin typeface="Arial"/>
                <a:ea typeface="Arial"/>
                <a:cs typeface="Arial"/>
              </a:rPr>
              <a:t>The employee takeaway</a:t>
            </a:r>
          </a:p>
        </p:txBody>
      </p:sp>
      <p:sp>
        <p:nvSpPr>
          <p:cNvPr id="24" name="">
            <a:extLst xmlns:a="http://schemas.openxmlformats.org/drawingml/2006/main">
              <a:ext uri="{FF2B5EF4-FFF2-40B4-BE49-F238E27FC236}">
                <a16:creationId xmlns:a16="http://schemas.microsoft.com/office/drawing/2014/main" id="{3F4DA8E3-DAF8-455E-A37C-03D541A0BCBC}"/>
              </a:ext>
            </a:extLst>
          </p:cNvPr>
          <p:cNvSpPr>
            <a:spLocks xmlns:a="http://schemas.openxmlformats.org/drawingml/2006/main" noGrp="1"/>
          </p:cNvSpPr>
          <p:nvPr/>
        </p:nvSpPr>
        <p:spPr>
          <a:xfrm xmlns:a="http://schemas.openxmlformats.org/drawingml/2006/main">
            <a:off x="628650" y="6591300"/>
            <a:ext cx="788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i="0">
                <a:solidFill>
                  <a:srgbClr val="161A22"/>
                </a:solidFill>
                <a:latin typeface="Georgia"/>
                <a:ea typeface="Georgia"/>
                <a:cs typeface="Georgia"/>
              </a:defRPr>
            </a:pPr>
            <a:r>
              <a:rPr sz="1275" b="1" i="0">
                <a:solidFill>
                  <a:srgbClr val="161A22"/>
                </a:solidFill>
                <a:latin typeface="Georgia"/>
                <a:ea typeface="Georgia"/>
                <a:cs typeface="Georgia"/>
              </a:rPr>
              <a:t>Training helps employees use AI for speed and quality without giving up review, judgment, or accountability.</a:t>
            </a:r>
          </a:p>
        </p:txBody>
      </p:sp>
      <p:sp>
        <p:nvSpPr>
          <p:cNvPr id="25" name="">
            <a:extLst xmlns:a="http://schemas.openxmlformats.org/drawingml/2006/main">
              <a:ext uri="{FF2B5EF4-FFF2-40B4-BE49-F238E27FC236}">
                <a16:creationId xmlns:a16="http://schemas.microsoft.com/office/drawing/2014/main" id="{FABDCA0A-14DC-4057-BEBE-5A4F6E1E2AB2}"/>
              </a:ext>
            </a:extLst>
          </p:cNvPr>
          <p:cNvSpPr>
            <a:spLocks xmlns:a="http://schemas.openxmlformats.org/drawingml/2006/main" noGrp="1"/>
          </p:cNvSpPr>
          <p:nvPr/>
        </p:nvSpPr>
        <p:spPr>
          <a:xfrm xmlns:a="http://schemas.openxmlformats.org/drawingml/2006/main">
            <a:off x="628650" y="7143750"/>
            <a:ext cx="7886700" cy="9525"/>
          </a:xfrm>
          <a:prstGeom xmlns:a="http://schemas.openxmlformats.org/drawingml/2006/main" prst="rect">
            <a:avLst/>
          </a:prstGeom>
          <a:solidFill xmlns:a="http://schemas.openxmlformats.org/drawingml/2006/main">
            <a:srgbClr val="D2D5DB"/>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99E1DF8B-80DF-43DA-A16C-D6B73C998518}"/>
              </a:ext>
            </a:extLst>
          </p:cNvPr>
          <p:cNvSpPr>
            <a:spLocks xmlns:a="http://schemas.openxmlformats.org/drawingml/2006/main" noGrp="1"/>
          </p:cNvSpPr>
          <p:nvPr/>
        </p:nvSpPr>
        <p:spPr>
          <a:xfrm xmlns:a="http://schemas.openxmlformats.org/drawingml/2006/main">
            <a:off x="628650" y="7353300"/>
            <a:ext cx="1619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687386"/>
                </a:solidFill>
                <a:latin typeface="Arial"/>
                <a:ea typeface="Arial"/>
                <a:cs typeface="Arial"/>
              </a:defRPr>
            </a:pPr>
            <a:r>
              <a:rPr sz="900" b="1" i="0">
                <a:solidFill>
                  <a:srgbClr val="687386"/>
                </a:solidFill>
                <a:latin typeface="Arial"/>
                <a:ea typeface="Arial"/>
                <a:cs typeface="Arial"/>
              </a:rPr>
              <a:t>APA CITATIONS</a:t>
            </a:r>
          </a:p>
        </p:txBody>
      </p:sp>
      <p:sp>
        <p:nvSpPr>
          <p:cNvPr id="27" name="">
            <a:extLst xmlns:a="http://schemas.openxmlformats.org/drawingml/2006/main">
              <a:ext uri="{FF2B5EF4-FFF2-40B4-BE49-F238E27FC236}">
                <a16:creationId xmlns:a16="http://schemas.microsoft.com/office/drawing/2014/main" id="{BCB4D7FE-01E8-45F2-8588-504F6828D04C}"/>
              </a:ext>
            </a:extLst>
          </p:cNvPr>
          <p:cNvSpPr>
            <a:spLocks xmlns:a="http://schemas.openxmlformats.org/drawingml/2006/main" noGrp="1"/>
          </p:cNvSpPr>
          <p:nvPr/>
        </p:nvSpPr>
        <p:spPr>
          <a:xfrm xmlns:a="http://schemas.openxmlformats.org/drawingml/2006/main">
            <a:off x="628650" y="7658100"/>
            <a:ext cx="7886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i="0">
                <a:solidFill>
                  <a:srgbClr val="687386"/>
                </a:solidFill>
                <a:latin typeface="Georgia"/>
                <a:ea typeface="Georgia"/>
                <a:cs typeface="Georgia"/>
              </a:defRPr>
            </a:pPr>
            <a:r>
              <a:rPr sz="825" b="0" i="0">
                <a:solidFill>
                  <a:srgbClr val="687386"/>
                </a:solidFill>
                <a:latin typeface="Georgia"/>
                <a:ea typeface="Georgia"/>
                <a:cs typeface="Georgia"/>
              </a:rPr>
              <a:t>Noy, S., &amp; Zhang, W. (2023). Experimental evidence on the productivity effects of generative artificial intelligence. Science, 381(6654), 187–192. https://doi.org/10.1126/science.adh2586</a:t>
            </a:r>
          </a:p>
        </p:txBody>
      </p:sp>
    </p:spTree>
    <p:extLst>
      <p:ext uri="{BB962C8B-B14F-4D97-AF65-F5344CB8AC3E}">
        <p14:creationId xmlns:p14="http://schemas.microsoft.com/office/powerpoint/2010/main" val="248302833"/>
      </p:ext>
    </p:extLst>
  </p:cSld>
</p:sld>
</file>

<file path=ppt/slides/slide2.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C8697A1F-7501-4667-AD77-A9334DD9CDB7}"/>
              </a:ext>
            </a:extLst>
          </p:cNvPr>
          <p:cNvSpPr>
            <a:spLocks xmlns:a="http://schemas.openxmlformats.org/drawingml/2006/main" noGrp="1"/>
          </p:cNvSpPr>
          <p:nvPr/>
        </p:nvSpPr>
        <p:spPr>
          <a:xfrm xmlns:a="http://schemas.openxmlformats.org/drawingml/2006/main">
            <a:off x="628650" y="552450"/>
            <a:ext cx="171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007AFF"/>
                </a:solidFill>
                <a:latin typeface="Arial"/>
                <a:ea typeface="Arial"/>
                <a:cs typeface="Arial"/>
              </a:defRPr>
            </a:pPr>
            <a:r>
              <a:rPr sz="975" b="1" i="0">
                <a:solidFill>
                  <a:srgbClr val="007AFF"/>
                </a:solidFill>
                <a:latin typeface="Arial"/>
                <a:ea typeface="Arial"/>
                <a:cs typeface="Arial"/>
              </a:rPr>
              <a:t>RESEARCH CARD</a:t>
            </a:r>
          </a:p>
        </p:txBody>
      </p:sp>
      <p:sp>
        <p:nvSpPr>
          <p:cNvPr id="2" name="">
            <a:extLst xmlns:a="http://schemas.openxmlformats.org/drawingml/2006/main">
              <a:ext uri="{FF2B5EF4-FFF2-40B4-BE49-F238E27FC236}">
                <a16:creationId xmlns:a16="http://schemas.microsoft.com/office/drawing/2014/main" id="{945B9682-A78E-446D-91CD-F9B037C55E2B}"/>
              </a:ext>
            </a:extLst>
          </p:cNvPr>
          <p:cNvSpPr>
            <a:spLocks xmlns:a="http://schemas.openxmlformats.org/drawingml/2006/main" noGrp="1"/>
          </p:cNvSpPr>
          <p:nvPr/>
        </p:nvSpPr>
        <p:spPr>
          <a:xfrm xmlns:a="http://schemas.openxmlformats.org/drawingml/2006/main">
            <a:off x="6191250" y="552450"/>
            <a:ext cx="2324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i="0">
                <a:solidFill>
                  <a:srgbClr val="687386"/>
                </a:solidFill>
                <a:latin typeface="Arial"/>
                <a:ea typeface="Arial"/>
                <a:cs typeface="Arial"/>
              </a:defRPr>
            </a:pPr>
            <a:r>
              <a:rPr sz="825" b="0" i="0">
                <a:solidFill>
                  <a:srgbClr val="687386"/>
                </a:solidFill>
                <a:latin typeface="Arial"/>
                <a:ea typeface="Arial"/>
                <a:cs typeface="Arial"/>
              </a:rPr>
              <a:t>MANAGER + BUSINESS</a:t>
            </a:r>
          </a:p>
        </p:txBody>
      </p:sp>
      <p:sp>
        <p:nvSpPr>
          <p:cNvPr id="3" name="">
            <a:extLst xmlns:a="http://schemas.openxmlformats.org/drawingml/2006/main">
              <a:ext uri="{FF2B5EF4-FFF2-40B4-BE49-F238E27FC236}">
                <a16:creationId xmlns:a16="http://schemas.microsoft.com/office/drawing/2014/main" id="{9346F210-118A-4FFA-9BB3-1B7A09706B6A}"/>
              </a:ext>
            </a:extLst>
          </p:cNvPr>
          <p:cNvSpPr>
            <a:spLocks xmlns:a="http://schemas.openxmlformats.org/drawingml/2006/main" noGrp="1"/>
          </p:cNvSpPr>
          <p:nvPr/>
        </p:nvSpPr>
        <p:spPr>
          <a:xfrm xmlns:a="http://schemas.openxmlformats.org/drawingml/2006/main">
            <a:off x="628650" y="800100"/>
            <a:ext cx="7886700" cy="9525"/>
          </a:xfrm>
          <a:prstGeom xmlns:a="http://schemas.openxmlformats.org/drawingml/2006/main" prst="rect">
            <a:avLst/>
          </a:prstGeom>
          <a:solidFill xmlns:a="http://schemas.openxmlformats.org/drawingml/2006/main">
            <a:srgbClr val="24293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14F40F0-3123-496C-806A-6BAA2EE74C33}"/>
              </a:ext>
            </a:extLst>
          </p:cNvPr>
          <p:cNvSpPr>
            <a:spLocks xmlns:a="http://schemas.openxmlformats.org/drawingml/2006/main" noGrp="1"/>
          </p:cNvSpPr>
          <p:nvPr/>
        </p:nvSpPr>
        <p:spPr>
          <a:xfrm xmlns:a="http://schemas.openxmlformats.org/drawingml/2006/main">
            <a:off x="628650" y="1066800"/>
            <a:ext cx="1504950" cy="1657350"/>
          </a:xfrm>
          <a:prstGeom xmlns:a="http://schemas.openxmlformats.org/drawingml/2006/main" prst="roundRect">
            <a:avLst>
              <a:gd name="adj" fmla="val 7595"/>
            </a:avLst>
          </a:prstGeom>
          <a:gradFill xmlns:a="http://schemas.openxmlformats.org/drawingml/2006/main">
            <a:gsLst>
              <a:gs pos="0">
                <a:srgbClr val="007AFF"/>
              </a:gs>
              <a:gs pos="100000">
                <a:srgbClr val="0B3D78"/>
              </a:gs>
            </a:gsLst>
            <a:lin ang="8100000"/>
          </a:gra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88CD17E-3002-4A8F-AB64-BDA5FB430917}"/>
              </a:ext>
            </a:extLst>
          </p:cNvPr>
          <p:cNvSpPr>
            <a:spLocks xmlns:a="http://schemas.openxmlformats.org/drawingml/2006/main" noGrp="1"/>
          </p:cNvSpPr>
          <p:nvPr/>
        </p:nvSpPr>
        <p:spPr>
          <a:xfrm xmlns:a="http://schemas.openxmlformats.org/drawingml/2006/main">
            <a:off x="800100" y="1390650"/>
            <a:ext cx="1162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i="0">
                <a:solidFill>
                  <a:srgbClr val="FFFFFF"/>
                </a:solidFill>
                <a:latin typeface="Arial"/>
                <a:ea typeface="Arial"/>
                <a:cs typeface="Arial"/>
              </a:defRPr>
            </a:pPr>
            <a:r>
              <a:rPr sz="3825" b="1" i="0">
                <a:solidFill>
                  <a:srgbClr val="FFFFFF"/>
                </a:solidFill>
                <a:latin typeface="Arial"/>
                <a:ea typeface="Arial"/>
                <a:cs typeface="Arial"/>
              </a:rPr>
              <a:t>14%</a:t>
            </a:r>
          </a:p>
        </p:txBody>
      </p:sp>
      <p:sp>
        <p:nvSpPr>
          <p:cNvPr id="6" name="">
            <a:extLst xmlns:a="http://schemas.openxmlformats.org/drawingml/2006/main">
              <a:ext uri="{FF2B5EF4-FFF2-40B4-BE49-F238E27FC236}">
                <a16:creationId xmlns:a16="http://schemas.microsoft.com/office/drawing/2014/main" id="{6AECD5BC-6FEA-4552-B5E8-6D0128DF563C}"/>
              </a:ext>
            </a:extLst>
          </p:cNvPr>
          <p:cNvSpPr>
            <a:spLocks xmlns:a="http://schemas.openxmlformats.org/drawingml/2006/main" noGrp="1"/>
          </p:cNvSpPr>
          <p:nvPr/>
        </p:nvSpPr>
        <p:spPr>
          <a:xfrm xmlns:a="http://schemas.openxmlformats.org/drawingml/2006/main">
            <a:off x="704850" y="1943100"/>
            <a:ext cx="1352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i="0">
                <a:solidFill>
                  <a:srgbClr val="F5A623"/>
                </a:solidFill>
                <a:latin typeface="Arial"/>
                <a:ea typeface="Arial"/>
                <a:cs typeface="Arial"/>
              </a:defRPr>
            </a:pPr>
            <a:r>
              <a:rPr sz="1350" b="1" i="0">
                <a:solidFill>
                  <a:srgbClr val="F5A623"/>
                </a:solidFill>
                <a:latin typeface="Arial"/>
                <a:ea typeface="Arial"/>
                <a:cs typeface="Arial"/>
              </a:rPr>
              <a:t>MORE / HOUR</a:t>
            </a:r>
          </a:p>
        </p:txBody>
      </p:sp>
      <p:sp>
        <p:nvSpPr>
          <p:cNvPr id="7" name="">
            <a:extLst xmlns:a="http://schemas.openxmlformats.org/drawingml/2006/main">
              <a:ext uri="{FF2B5EF4-FFF2-40B4-BE49-F238E27FC236}">
                <a16:creationId xmlns:a16="http://schemas.microsoft.com/office/drawing/2014/main" id="{4AD8FDBC-24CE-45B8-981B-F22B2DE9038F}"/>
              </a:ext>
            </a:extLst>
          </p:cNvPr>
          <p:cNvSpPr>
            <a:spLocks xmlns:a="http://schemas.openxmlformats.org/drawingml/2006/main" noGrp="1"/>
          </p:cNvSpPr>
          <p:nvPr/>
        </p:nvSpPr>
        <p:spPr>
          <a:xfrm xmlns:a="http://schemas.openxmlformats.org/drawingml/2006/main">
            <a:off x="704850" y="2419350"/>
            <a:ext cx="13525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i="0">
                <a:solidFill>
                  <a:srgbClr val="FFFFFF"/>
                </a:solidFill>
                <a:latin typeface="Arial"/>
                <a:ea typeface="Arial"/>
                <a:cs typeface="Arial"/>
              </a:defRPr>
            </a:pPr>
            <a:r>
              <a:rPr sz="1013" b="0" i="0">
                <a:solidFill>
                  <a:srgbClr val="FFFFFF"/>
                </a:solidFill>
                <a:latin typeface="Arial"/>
                <a:ea typeface="Arial"/>
                <a:cs typeface="Arial"/>
              </a:rPr>
              <a:t>34% NOVICE</a:t>
            </a:r>
          </a:p>
        </p:txBody>
      </p:sp>
      <p:sp>
        <p:nvSpPr>
          <p:cNvPr id="8" name="">
            <a:extLst xmlns:a="http://schemas.openxmlformats.org/drawingml/2006/main">
              <a:ext uri="{FF2B5EF4-FFF2-40B4-BE49-F238E27FC236}">
                <a16:creationId xmlns:a16="http://schemas.microsoft.com/office/drawing/2014/main" id="{611AB5DF-8099-4140-B311-59C94ABA3E23}"/>
              </a:ext>
            </a:extLst>
          </p:cNvPr>
          <p:cNvSpPr>
            <a:spLocks xmlns:a="http://schemas.openxmlformats.org/drawingml/2006/main" noGrp="1"/>
          </p:cNvSpPr>
          <p:nvPr/>
        </p:nvSpPr>
        <p:spPr>
          <a:xfrm xmlns:a="http://schemas.openxmlformats.org/drawingml/2006/main">
            <a:off x="2362200" y="1104900"/>
            <a:ext cx="6019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i="0">
                <a:solidFill>
                  <a:srgbClr val="161A22"/>
                </a:solidFill>
                <a:latin typeface="Georgia"/>
                <a:ea typeface="Georgia"/>
                <a:cs typeface="Georgia"/>
              </a:defRPr>
            </a:pPr>
            <a:r>
              <a:rPr sz="2175" b="1" i="0">
                <a:solidFill>
                  <a:srgbClr val="161A22"/>
                </a:solidFill>
                <a:latin typeface="Georgia"/>
                <a:ea typeface="Georgia"/>
                <a:cs typeface="Georgia"/>
              </a:rPr>
              <a:t>Managers turn employee-level gains into team performance and business value</a:t>
            </a:r>
          </a:p>
        </p:txBody>
      </p:sp>
      <p:sp>
        <p:nvSpPr>
          <p:cNvPr id="9" name="">
            <a:extLst xmlns:a="http://schemas.openxmlformats.org/drawingml/2006/main">
              <a:ext uri="{FF2B5EF4-FFF2-40B4-BE49-F238E27FC236}">
                <a16:creationId xmlns:a16="http://schemas.microsoft.com/office/drawing/2014/main" id="{E42136E0-9979-45C9-87FF-E7E17E3128C3}"/>
              </a:ext>
            </a:extLst>
          </p:cNvPr>
          <p:cNvSpPr>
            <a:spLocks xmlns:a="http://schemas.openxmlformats.org/drawingml/2006/main" noGrp="1"/>
          </p:cNvSpPr>
          <p:nvPr/>
        </p:nvSpPr>
        <p:spPr>
          <a:xfrm xmlns:a="http://schemas.openxmlformats.org/drawingml/2006/main">
            <a:off x="2362200" y="2038350"/>
            <a:ext cx="5905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1">
                <a:solidFill>
                  <a:srgbClr val="687386"/>
                </a:solidFill>
                <a:latin typeface="Georgia"/>
                <a:ea typeface="Georgia"/>
                <a:cs typeface="Georgia"/>
              </a:defRPr>
            </a:pPr>
            <a:r>
              <a:rPr sz="1350" b="0" i="1">
                <a:solidFill>
                  <a:srgbClr val="687386"/>
                </a:solidFill>
                <a:latin typeface="Georgia"/>
                <a:ea typeface="Georgia"/>
                <a:cs typeface="Georgia"/>
              </a:rPr>
              <a:t>Managers decide whether those gains stay isolated or become repeatable team capability.</a:t>
            </a:r>
          </a:p>
        </p:txBody>
      </p:sp>
      <p:sp>
        <p:nvSpPr>
          <p:cNvPr id="10" name="">
            <a:extLst xmlns:a="http://schemas.openxmlformats.org/drawingml/2006/main">
              <a:ext uri="{FF2B5EF4-FFF2-40B4-BE49-F238E27FC236}">
                <a16:creationId xmlns:a16="http://schemas.microsoft.com/office/drawing/2014/main" id="{02768E66-0156-4C3A-B945-9B4A81808509}"/>
              </a:ext>
            </a:extLst>
          </p:cNvPr>
          <p:cNvSpPr>
            <a:spLocks xmlns:a="http://schemas.openxmlformats.org/drawingml/2006/main" noGrp="1"/>
          </p:cNvSpPr>
          <p:nvPr/>
        </p:nvSpPr>
        <p:spPr>
          <a:xfrm xmlns:a="http://schemas.openxmlformats.org/drawingml/2006/main">
            <a:off x="628650" y="2876550"/>
            <a:ext cx="7886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i="0">
                <a:solidFill>
                  <a:srgbClr val="161A22"/>
                </a:solidFill>
                <a:latin typeface="Georgia"/>
                <a:ea typeface="Georgia"/>
                <a:cs typeface="Georgia"/>
              </a:defRPr>
            </a:pPr>
            <a:r>
              <a:rPr sz="1500" b="0" i="0">
                <a:solidFill>
                  <a:srgbClr val="161A22"/>
                </a:solidFill>
                <a:latin typeface="Georgia"/>
                <a:ea typeface="Georgia"/>
                <a:cs typeface="Georgia"/>
              </a:rPr>
              <a:t>In a field study of 5,179 customer-support agents, access to an AI conversational assistant increased issues resolved per hour by 14% on average and by 34% for novice and low-skilled workers. The authors found suggestive evidence that the system spread practices from more experienced workers.</a:t>
            </a:r>
          </a:p>
        </p:txBody>
      </p:sp>
      <p:sp>
        <p:nvSpPr>
          <p:cNvPr id="11" name="">
            <a:extLst xmlns:a="http://schemas.openxmlformats.org/drawingml/2006/main">
              <a:ext uri="{FF2B5EF4-FFF2-40B4-BE49-F238E27FC236}">
                <a16:creationId xmlns:a16="http://schemas.microsoft.com/office/drawing/2014/main" id="{2EBF83BF-B3F6-410A-97CC-25ADCC5EB336}"/>
              </a:ext>
            </a:extLst>
          </p:cNvPr>
          <p:cNvSpPr>
            <a:spLocks xmlns:a="http://schemas.openxmlformats.org/drawingml/2006/main" noGrp="1"/>
          </p:cNvSpPr>
          <p:nvPr/>
        </p:nvSpPr>
        <p:spPr>
          <a:xfrm xmlns:a="http://schemas.openxmlformats.org/drawingml/2006/main">
            <a:off x="628650" y="4114800"/>
            <a:ext cx="114300" cy="114300"/>
          </a:xfrm>
          <a:prstGeom xmlns:a="http://schemas.openxmlformats.org/drawingml/2006/main" prst="ellipse">
            <a:avLst/>
          </a:prstGeom>
          <a:solidFill xmlns:a="http://schemas.openxmlformats.org/drawingml/2006/main">
            <a:srgbClr val="F5A62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6C0D35A-1E0B-4D4D-B186-ABC90ACC714F}"/>
              </a:ext>
            </a:extLst>
          </p:cNvPr>
          <p:cNvSpPr>
            <a:spLocks xmlns:a="http://schemas.openxmlformats.org/drawingml/2006/main" noGrp="1"/>
          </p:cNvSpPr>
          <p:nvPr/>
        </p:nvSpPr>
        <p:spPr>
          <a:xfrm xmlns:a="http://schemas.openxmlformats.org/drawingml/2006/main">
            <a:off x="838200" y="4038600"/>
            <a:ext cx="166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88" b="1" i="0">
                <a:solidFill>
                  <a:srgbClr val="161A22"/>
                </a:solidFill>
                <a:latin typeface="Arial"/>
                <a:ea typeface="Arial"/>
                <a:cs typeface="Arial"/>
              </a:defRPr>
            </a:pPr>
            <a:r>
              <a:rPr sz="1688" b="1" i="0">
                <a:solidFill>
                  <a:srgbClr val="161A22"/>
                </a:solidFill>
                <a:latin typeface="Arial"/>
                <a:ea typeface="Arial"/>
                <a:cs typeface="Arial"/>
              </a:rPr>
              <a:t>Productivity</a:t>
            </a:r>
          </a:p>
        </p:txBody>
      </p:sp>
      <p:sp>
        <p:nvSpPr>
          <p:cNvPr id="13" name="">
            <a:extLst xmlns:a="http://schemas.openxmlformats.org/drawingml/2006/main">
              <a:ext uri="{FF2B5EF4-FFF2-40B4-BE49-F238E27FC236}">
                <a16:creationId xmlns:a16="http://schemas.microsoft.com/office/drawing/2014/main" id="{F5D7A6FD-2F6C-41EA-B878-C0AD5B8A13A8}"/>
              </a:ext>
            </a:extLst>
          </p:cNvPr>
          <p:cNvSpPr>
            <a:spLocks xmlns:a="http://schemas.openxmlformats.org/drawingml/2006/main" noGrp="1"/>
          </p:cNvSpPr>
          <p:nvPr/>
        </p:nvSpPr>
        <p:spPr>
          <a:xfrm xmlns:a="http://schemas.openxmlformats.org/drawingml/2006/main">
            <a:off x="2667000" y="4038600"/>
            <a:ext cx="584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i="0">
                <a:solidFill>
                  <a:srgbClr val="161A22"/>
                </a:solidFill>
                <a:latin typeface="Arial"/>
                <a:ea typeface="Arial"/>
                <a:cs typeface="Arial"/>
              </a:defRPr>
            </a:pPr>
            <a:r>
              <a:rPr sz="1575" b="0" i="0">
                <a:solidFill>
                  <a:srgbClr val="161A22"/>
                </a:solidFill>
                <a:latin typeface="Arial"/>
                <a:ea typeface="Arial"/>
                <a:cs typeface="Arial"/>
              </a:rPr>
              <a:t>The average gain improved issues resolved per hour.</a:t>
            </a:r>
          </a:p>
        </p:txBody>
      </p:sp>
      <p:sp>
        <p:nvSpPr>
          <p:cNvPr id="14" name="">
            <a:extLst xmlns:a="http://schemas.openxmlformats.org/drawingml/2006/main">
              <a:ext uri="{FF2B5EF4-FFF2-40B4-BE49-F238E27FC236}">
                <a16:creationId xmlns:a16="http://schemas.microsoft.com/office/drawing/2014/main" id="{129F8F34-1CDD-4F5D-8C26-AE57EFEA9EE4}"/>
              </a:ext>
            </a:extLst>
          </p:cNvPr>
          <p:cNvSpPr>
            <a:spLocks xmlns:a="http://schemas.openxmlformats.org/drawingml/2006/main" noGrp="1"/>
          </p:cNvSpPr>
          <p:nvPr/>
        </p:nvSpPr>
        <p:spPr>
          <a:xfrm xmlns:a="http://schemas.openxmlformats.org/drawingml/2006/main">
            <a:off x="628650" y="4705350"/>
            <a:ext cx="7886700" cy="9525"/>
          </a:xfrm>
          <a:prstGeom xmlns:a="http://schemas.openxmlformats.org/drawingml/2006/main" prst="rect">
            <a:avLst/>
          </a:prstGeom>
          <a:solidFill xmlns:a="http://schemas.openxmlformats.org/drawingml/2006/main">
            <a:srgbClr val="D9DDE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F3AB913-B29B-4665-B6DF-D36D5D09B33C}"/>
              </a:ext>
            </a:extLst>
          </p:cNvPr>
          <p:cNvSpPr>
            <a:spLocks xmlns:a="http://schemas.openxmlformats.org/drawingml/2006/main" noGrp="1"/>
          </p:cNvSpPr>
          <p:nvPr/>
        </p:nvSpPr>
        <p:spPr>
          <a:xfrm xmlns:a="http://schemas.openxmlformats.org/drawingml/2006/main">
            <a:off x="628650" y="4800600"/>
            <a:ext cx="114300" cy="114300"/>
          </a:xfrm>
          <a:prstGeom xmlns:a="http://schemas.openxmlformats.org/drawingml/2006/main" prst="ellipse">
            <a:avLst/>
          </a:prstGeom>
          <a:solidFill xmlns:a="http://schemas.openxmlformats.org/drawingml/2006/main">
            <a:srgbClr val="F5A62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6DEFFC7-7F96-4656-9221-D9FEFD325E1D}"/>
              </a:ext>
            </a:extLst>
          </p:cNvPr>
          <p:cNvSpPr>
            <a:spLocks xmlns:a="http://schemas.openxmlformats.org/drawingml/2006/main" noGrp="1"/>
          </p:cNvSpPr>
          <p:nvPr/>
        </p:nvSpPr>
        <p:spPr>
          <a:xfrm xmlns:a="http://schemas.openxmlformats.org/drawingml/2006/main">
            <a:off x="838200" y="4724400"/>
            <a:ext cx="166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88" b="1" i="0">
                <a:solidFill>
                  <a:srgbClr val="161A22"/>
                </a:solidFill>
                <a:latin typeface="Arial"/>
                <a:ea typeface="Arial"/>
                <a:cs typeface="Arial"/>
              </a:defRPr>
            </a:pPr>
            <a:r>
              <a:rPr sz="1688" b="1" i="0">
                <a:solidFill>
                  <a:srgbClr val="161A22"/>
                </a:solidFill>
                <a:latin typeface="Arial"/>
                <a:ea typeface="Arial"/>
                <a:cs typeface="Arial"/>
              </a:rPr>
              <a:t>Performance</a:t>
            </a:r>
          </a:p>
        </p:txBody>
      </p:sp>
      <p:sp>
        <p:nvSpPr>
          <p:cNvPr id="17" name="">
            <a:extLst xmlns:a="http://schemas.openxmlformats.org/drawingml/2006/main">
              <a:ext uri="{FF2B5EF4-FFF2-40B4-BE49-F238E27FC236}">
                <a16:creationId xmlns:a16="http://schemas.microsoft.com/office/drawing/2014/main" id="{4C9FA36D-47A2-44B1-B97A-85852A34D585}"/>
              </a:ext>
            </a:extLst>
          </p:cNvPr>
          <p:cNvSpPr>
            <a:spLocks xmlns:a="http://schemas.openxmlformats.org/drawingml/2006/main" noGrp="1"/>
          </p:cNvSpPr>
          <p:nvPr/>
        </p:nvSpPr>
        <p:spPr>
          <a:xfrm xmlns:a="http://schemas.openxmlformats.org/drawingml/2006/main">
            <a:off x="2667000" y="4724400"/>
            <a:ext cx="584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i="0">
                <a:solidFill>
                  <a:srgbClr val="161A22"/>
                </a:solidFill>
                <a:latin typeface="Arial"/>
                <a:ea typeface="Arial"/>
                <a:cs typeface="Arial"/>
              </a:defRPr>
            </a:pPr>
            <a:r>
              <a:rPr sz="1575" b="0" i="0">
                <a:solidFill>
                  <a:srgbClr val="161A22"/>
                </a:solidFill>
                <a:latin typeface="Arial"/>
                <a:ea typeface="Arial"/>
                <a:cs typeface="Arial"/>
              </a:rPr>
              <a:t>Novice workers showed the largest gain, suggesting faster learning of effective patterns.</a:t>
            </a:r>
          </a:p>
        </p:txBody>
      </p:sp>
      <p:sp>
        <p:nvSpPr>
          <p:cNvPr id="18" name="">
            <a:extLst xmlns:a="http://schemas.openxmlformats.org/drawingml/2006/main">
              <a:ext uri="{FF2B5EF4-FFF2-40B4-BE49-F238E27FC236}">
                <a16:creationId xmlns:a16="http://schemas.microsoft.com/office/drawing/2014/main" id="{5951DDE1-0AFE-4F89-A521-BD0C863DB7D0}"/>
              </a:ext>
            </a:extLst>
          </p:cNvPr>
          <p:cNvSpPr>
            <a:spLocks xmlns:a="http://schemas.openxmlformats.org/drawingml/2006/main" noGrp="1"/>
          </p:cNvSpPr>
          <p:nvPr/>
        </p:nvSpPr>
        <p:spPr>
          <a:xfrm xmlns:a="http://schemas.openxmlformats.org/drawingml/2006/main">
            <a:off x="628650" y="5391150"/>
            <a:ext cx="7886700" cy="9525"/>
          </a:xfrm>
          <a:prstGeom xmlns:a="http://schemas.openxmlformats.org/drawingml/2006/main" prst="rect">
            <a:avLst/>
          </a:prstGeom>
          <a:solidFill xmlns:a="http://schemas.openxmlformats.org/drawingml/2006/main">
            <a:srgbClr val="D9DDE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C6050CC-DCEC-4377-828A-DC07E7FB5B34}"/>
              </a:ext>
            </a:extLst>
          </p:cNvPr>
          <p:cNvSpPr>
            <a:spLocks xmlns:a="http://schemas.openxmlformats.org/drawingml/2006/main" noGrp="1"/>
          </p:cNvSpPr>
          <p:nvPr/>
        </p:nvSpPr>
        <p:spPr>
          <a:xfrm xmlns:a="http://schemas.openxmlformats.org/drawingml/2006/main">
            <a:off x="628650" y="5486400"/>
            <a:ext cx="114300" cy="114300"/>
          </a:xfrm>
          <a:prstGeom xmlns:a="http://schemas.openxmlformats.org/drawingml/2006/main" prst="ellipse">
            <a:avLst/>
          </a:prstGeom>
          <a:solidFill xmlns:a="http://schemas.openxmlformats.org/drawingml/2006/main">
            <a:srgbClr val="F5A62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59F5D8C-7714-44B6-B32F-A7BA6E7EB179}"/>
              </a:ext>
            </a:extLst>
          </p:cNvPr>
          <p:cNvSpPr>
            <a:spLocks xmlns:a="http://schemas.openxmlformats.org/drawingml/2006/main" noGrp="1"/>
          </p:cNvSpPr>
          <p:nvPr/>
        </p:nvSpPr>
        <p:spPr>
          <a:xfrm xmlns:a="http://schemas.openxmlformats.org/drawingml/2006/main">
            <a:off x="838200" y="5410200"/>
            <a:ext cx="166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88" b="1" i="0">
                <a:solidFill>
                  <a:srgbClr val="161A22"/>
                </a:solidFill>
                <a:latin typeface="Arial"/>
                <a:ea typeface="Arial"/>
                <a:cs typeface="Arial"/>
              </a:defRPr>
            </a:pPr>
            <a:r>
              <a:rPr sz="1688" b="1" i="0">
                <a:solidFill>
                  <a:srgbClr val="161A22"/>
                </a:solidFill>
                <a:latin typeface="Arial"/>
                <a:ea typeface="Arial"/>
                <a:cs typeface="Arial"/>
              </a:rPr>
              <a:t>Business value</a:t>
            </a:r>
          </a:p>
        </p:txBody>
      </p:sp>
      <p:sp>
        <p:nvSpPr>
          <p:cNvPr id="21" name="">
            <a:extLst xmlns:a="http://schemas.openxmlformats.org/drawingml/2006/main">
              <a:ext uri="{FF2B5EF4-FFF2-40B4-BE49-F238E27FC236}">
                <a16:creationId xmlns:a16="http://schemas.microsoft.com/office/drawing/2014/main" id="{0E2A8846-4FB7-4B07-B737-4E2E808B8DFA}"/>
              </a:ext>
            </a:extLst>
          </p:cNvPr>
          <p:cNvSpPr>
            <a:spLocks xmlns:a="http://schemas.openxmlformats.org/drawingml/2006/main" noGrp="1"/>
          </p:cNvSpPr>
          <p:nvPr/>
        </p:nvSpPr>
        <p:spPr>
          <a:xfrm xmlns:a="http://schemas.openxmlformats.org/drawingml/2006/main">
            <a:off x="2667000" y="5410200"/>
            <a:ext cx="584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i="0">
                <a:solidFill>
                  <a:srgbClr val="161A22"/>
                </a:solidFill>
                <a:latin typeface="Arial"/>
                <a:ea typeface="Arial"/>
                <a:cs typeface="Arial"/>
              </a:defRPr>
            </a:pPr>
            <a:r>
              <a:rPr sz="1575" b="0" i="0">
                <a:solidFill>
                  <a:srgbClr val="161A22"/>
                </a:solidFill>
                <a:latin typeface="Arial"/>
                <a:ea typeface="Arial"/>
                <a:cs typeface="Arial"/>
              </a:rPr>
              <a:t>McKinsey respondents reported cost and revenue gains in gen AI business units. This is self-reported, not causal evidence.</a:t>
            </a:r>
          </a:p>
        </p:txBody>
      </p:sp>
      <p:sp>
        <p:nvSpPr>
          <p:cNvPr id="22" name="">
            <a:extLst xmlns:a="http://schemas.openxmlformats.org/drawingml/2006/main">
              <a:ext uri="{FF2B5EF4-FFF2-40B4-BE49-F238E27FC236}">
                <a16:creationId xmlns:a16="http://schemas.microsoft.com/office/drawing/2014/main" id="{B1876B6F-8CAC-4C69-B693-4A5D66EBABC8}"/>
              </a:ext>
            </a:extLst>
          </p:cNvPr>
          <p:cNvSpPr>
            <a:spLocks xmlns:a="http://schemas.openxmlformats.org/drawingml/2006/main" noGrp="1"/>
          </p:cNvSpPr>
          <p:nvPr/>
        </p:nvSpPr>
        <p:spPr>
          <a:xfrm xmlns:a="http://schemas.openxmlformats.org/drawingml/2006/main">
            <a:off x="628650" y="6076950"/>
            <a:ext cx="7886700" cy="9525"/>
          </a:xfrm>
          <a:prstGeom xmlns:a="http://schemas.openxmlformats.org/drawingml/2006/main" prst="rect">
            <a:avLst/>
          </a:prstGeom>
          <a:solidFill xmlns:a="http://schemas.openxmlformats.org/drawingml/2006/main">
            <a:srgbClr val="D9DDE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0CA4E20-B7AA-42CC-BFCD-C4511D70C79A}"/>
              </a:ext>
            </a:extLst>
          </p:cNvPr>
          <p:cNvSpPr>
            <a:spLocks xmlns:a="http://schemas.openxmlformats.org/drawingml/2006/main" noGrp="1"/>
          </p:cNvSpPr>
          <p:nvPr/>
        </p:nvSpPr>
        <p:spPr>
          <a:xfrm xmlns:a="http://schemas.openxmlformats.org/drawingml/2006/main">
            <a:off x="628650" y="6324600"/>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007AFF"/>
                </a:solidFill>
                <a:latin typeface="Arial"/>
                <a:ea typeface="Arial"/>
                <a:cs typeface="Arial"/>
              </a:defRPr>
            </a:pPr>
            <a:r>
              <a:rPr sz="900" b="1" i="0">
                <a:solidFill>
                  <a:srgbClr val="007AFF"/>
                </a:solidFill>
                <a:latin typeface="Arial"/>
                <a:ea typeface="Arial"/>
                <a:cs typeface="Arial"/>
              </a:rPr>
              <a:t>The employer takeaway</a:t>
            </a:r>
          </a:p>
        </p:txBody>
      </p:sp>
      <p:sp>
        <p:nvSpPr>
          <p:cNvPr id="24" name="">
            <a:extLst xmlns:a="http://schemas.openxmlformats.org/drawingml/2006/main">
              <a:ext uri="{FF2B5EF4-FFF2-40B4-BE49-F238E27FC236}">
                <a16:creationId xmlns:a16="http://schemas.microsoft.com/office/drawing/2014/main" id="{11DD7320-363B-4AE2-9A2C-8DD42E2F66A8}"/>
              </a:ext>
            </a:extLst>
          </p:cNvPr>
          <p:cNvSpPr>
            <a:spLocks xmlns:a="http://schemas.openxmlformats.org/drawingml/2006/main" noGrp="1"/>
          </p:cNvSpPr>
          <p:nvPr/>
        </p:nvSpPr>
        <p:spPr>
          <a:xfrm xmlns:a="http://schemas.openxmlformats.org/drawingml/2006/main">
            <a:off x="628650" y="6591300"/>
            <a:ext cx="788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i="0">
                <a:solidFill>
                  <a:srgbClr val="161A22"/>
                </a:solidFill>
                <a:latin typeface="Georgia"/>
                <a:ea typeface="Georgia"/>
                <a:cs typeface="Georgia"/>
              </a:defRPr>
            </a:pPr>
            <a:r>
              <a:rPr sz="1275" b="1" i="0">
                <a:solidFill>
                  <a:srgbClr val="161A22"/>
                </a:solidFill>
                <a:latin typeface="Georgia"/>
                <a:ea typeface="Georgia"/>
                <a:cs typeface="Georgia"/>
              </a:rPr>
              <a:t>Proper training is the bridge from individual task help to repeatable productivity, stronger performance, and reported business value.</a:t>
            </a:r>
          </a:p>
        </p:txBody>
      </p:sp>
      <p:sp>
        <p:nvSpPr>
          <p:cNvPr id="25" name="">
            <a:extLst xmlns:a="http://schemas.openxmlformats.org/drawingml/2006/main">
              <a:ext uri="{FF2B5EF4-FFF2-40B4-BE49-F238E27FC236}">
                <a16:creationId xmlns:a16="http://schemas.microsoft.com/office/drawing/2014/main" id="{359E8A27-65AF-4973-BD15-8F64521CF69B}"/>
              </a:ext>
            </a:extLst>
          </p:cNvPr>
          <p:cNvSpPr>
            <a:spLocks xmlns:a="http://schemas.openxmlformats.org/drawingml/2006/main" noGrp="1"/>
          </p:cNvSpPr>
          <p:nvPr/>
        </p:nvSpPr>
        <p:spPr>
          <a:xfrm xmlns:a="http://schemas.openxmlformats.org/drawingml/2006/main">
            <a:off x="628650" y="7143750"/>
            <a:ext cx="7886700" cy="9525"/>
          </a:xfrm>
          <a:prstGeom xmlns:a="http://schemas.openxmlformats.org/drawingml/2006/main" prst="rect">
            <a:avLst/>
          </a:prstGeom>
          <a:solidFill xmlns:a="http://schemas.openxmlformats.org/drawingml/2006/main">
            <a:srgbClr val="D2D5DB"/>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A28C29A1-DDBB-4958-BA6C-22A904340210}"/>
              </a:ext>
            </a:extLst>
          </p:cNvPr>
          <p:cNvSpPr>
            <a:spLocks xmlns:a="http://schemas.openxmlformats.org/drawingml/2006/main" noGrp="1"/>
          </p:cNvSpPr>
          <p:nvPr/>
        </p:nvSpPr>
        <p:spPr>
          <a:xfrm xmlns:a="http://schemas.openxmlformats.org/drawingml/2006/main">
            <a:off x="628650" y="7353300"/>
            <a:ext cx="1619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687386"/>
                </a:solidFill>
                <a:latin typeface="Arial"/>
                <a:ea typeface="Arial"/>
                <a:cs typeface="Arial"/>
              </a:defRPr>
            </a:pPr>
            <a:r>
              <a:rPr sz="900" b="1" i="0">
                <a:solidFill>
                  <a:srgbClr val="687386"/>
                </a:solidFill>
                <a:latin typeface="Arial"/>
                <a:ea typeface="Arial"/>
                <a:cs typeface="Arial"/>
              </a:rPr>
              <a:t>APA CITATIONS</a:t>
            </a:r>
          </a:p>
        </p:txBody>
      </p:sp>
      <p:sp>
        <p:nvSpPr>
          <p:cNvPr id="27" name="">
            <a:extLst xmlns:a="http://schemas.openxmlformats.org/drawingml/2006/main">
              <a:ext uri="{FF2B5EF4-FFF2-40B4-BE49-F238E27FC236}">
                <a16:creationId xmlns:a16="http://schemas.microsoft.com/office/drawing/2014/main" id="{DACC8BCB-D5A3-4308-A10C-2D25B2DA021A}"/>
              </a:ext>
            </a:extLst>
          </p:cNvPr>
          <p:cNvSpPr>
            <a:spLocks xmlns:a="http://schemas.openxmlformats.org/drawingml/2006/main" noGrp="1"/>
          </p:cNvSpPr>
          <p:nvPr/>
        </p:nvSpPr>
        <p:spPr>
          <a:xfrm xmlns:a="http://schemas.openxmlformats.org/drawingml/2006/main">
            <a:off x="628650" y="7658100"/>
            <a:ext cx="7886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i="0">
                <a:solidFill>
                  <a:srgbClr val="687386"/>
                </a:solidFill>
                <a:latin typeface="Georgia"/>
                <a:ea typeface="Georgia"/>
                <a:cs typeface="Georgia"/>
              </a:defRPr>
            </a:pPr>
            <a:r>
              <a:rPr sz="825" b="0" i="0">
                <a:solidFill>
                  <a:srgbClr val="687386"/>
                </a:solidFill>
                <a:latin typeface="Georgia"/>
                <a:ea typeface="Georgia"/>
                <a:cs typeface="Georgia"/>
              </a:rPr>
              <a:t>Brynjolfsson, E., Li, D., &amp; Raymond, L. R. (2023). Generative AI at work. NBER Working Paper No. 31161. https://doi.org/10.3386/w31161</a:t>
            </a:r>
          </a:p>
          <a:p xmlns:a="http://schemas.openxmlformats.org/drawingml/2006/main">
            <a:pPr>
              <a:defRPr sz="825" b="0" i="0">
                <a:solidFill>
                  <a:srgbClr val="687386"/>
                </a:solidFill>
                <a:latin typeface="Georgia"/>
                <a:ea typeface="Georgia"/>
                <a:cs typeface="Georgia"/>
              </a:defRPr>
            </a:pPr>
            <a:r>
              <a:rPr sz="825" b="0" i="0">
                <a:solidFill>
                  <a:srgbClr val="687386"/>
                </a:solidFill>
                <a:latin typeface="Georgia"/>
                <a:ea typeface="Georgia"/>
                <a:cs typeface="Georgia"/>
              </a:rPr>
              <a:t>Singla, A., Sukharevsky, A., Yee, L., &amp; Chui, M. (2024). The state of AI in early 2024. McKinsey &amp; Company. https://www.mckinsey.com/capabilities/quantumblack/our-insights/the-state-of-ai-2024</a:t>
            </a:r>
          </a:p>
        </p:txBody>
      </p:sp>
    </p:spTree>
    <p:extLst>
      <p:ext uri="{BB962C8B-B14F-4D97-AF65-F5344CB8AC3E}">
        <p14:creationId xmlns:p14="http://schemas.microsoft.com/office/powerpoint/2010/main" val="2804866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2026-10-02T00:15:34.9890000Z</dcterms:created>
  <dcterms:modified xsi:type="dcterms:W3CDTF">2026-10-02T00:15:34.9890000Z</dcterms:modified>
</coreProperties>
</file>