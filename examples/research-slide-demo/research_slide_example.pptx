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RESEARCH SPOTLIGHT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37160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OF 3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12064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2563EB"/>
                </a:solidFill>
                <a:latin typeface="Calibri"/>
              </a:rPr>
              <a:t>Proceedings of CHI 2025 · Microsoft Research × Carnegie Mellon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709928"/>
            <a:ext cx="448056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172A"/>
                </a:solidFill>
                <a:latin typeface="Calibri"/>
              </a:rPr>
              <a:t>The Impact of Generative AI</a:t>
            </a:r>
          </a:p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172A"/>
                </a:solidFill>
                <a:latin typeface="Calibri"/>
              </a:rPr>
              <a:t>on Critical Thinking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Lee, H., et al. (2025)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Survey of 319 knowledge workers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461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KEY FINDING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44805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When people trust the AI more, they </a:t>
            </a:r>
            <a:r>
              <a:rPr sz="1400" b="1">
                <a:solidFill>
                  <a:srgbClr val="E11D48"/>
                </a:solidFill>
                <a:latin typeface="Calibri"/>
              </a:rPr>
              <a:t>accept its answer at face value</a:t>
            </a:r>
            <a:r>
              <a:rPr sz="1400" b="0">
                <a:solidFill>
                  <a:srgbClr val="0F172A"/>
                </a:solidFill>
                <a:latin typeface="Calibri"/>
              </a:rPr>
              <a:t> — less checking, less scrutiny. When people trust </a:t>
            </a:r>
            <a:r>
              <a:rPr sz="1400" b="0">
                <a:solidFill>
                  <a:srgbClr val="0F172A"/>
                </a:solidFill>
                <a:latin typeface="Calibri"/>
              </a:rPr>
              <a:t>themselves</a:t>
            </a:r>
            <a:r>
              <a:rPr sz="1400" b="0">
                <a:solidFill>
                  <a:srgbClr val="0F172A"/>
                </a:solidFill>
                <a:latin typeface="Calibri"/>
              </a:rPr>
              <a:t> more, they </a:t>
            </a:r>
            <a:r>
              <a:rPr sz="1400" b="1">
                <a:solidFill>
                  <a:srgbClr val="059669"/>
                </a:solidFill>
                <a:latin typeface="Calibri"/>
              </a:rPr>
              <a:t>verify and question</a:t>
            </a:r>
            <a:r>
              <a:rPr sz="1400" b="0">
                <a:solidFill>
                  <a:srgbClr val="0F172A"/>
                </a:solidFill>
                <a:latin typeface="Calibri"/>
              </a:rPr>
              <a:t> what the AI gives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29199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563EB"/>
                </a:solidFill>
                <a:latin typeface="Calibri"/>
              </a:rPr>
              <a:t>319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professionals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surveyed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029199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563EB"/>
                </a:solidFill>
                <a:latin typeface="Calibri"/>
              </a:rPr>
              <a:t>936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53212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real AI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use cases</a:t>
            </a:r>
          </a:p>
        </p:txBody>
      </p:sp>
      <p:pic>
        <p:nvPicPr>
          <p:cNvPr id="17" name="Picture 16" descr="researcher.jpg"/>
          <p:cNvPicPr>
            <a:picLocks noChangeAspect="1"/>
          </p:cNvPicPr>
          <p:nvPr/>
        </p:nvPicPr>
        <p:blipFill>
          <a:blip r:embed="rId2"/>
          <a:srcRect t="16667" b="16667"/>
          <a:stretch>
            <a:fillRect/>
          </a:stretch>
        </p:blipFill>
        <p:spPr>
          <a:xfrm>
            <a:off x="4251960" y="4846320"/>
            <a:ext cx="1051560" cy="1051560"/>
          </a:xfrm>
          <a:prstGeom prst="rect">
            <a:avLst/>
          </a:prstGeom>
          <a:prstGeom prst="ellipse">
            <a:avLst/>
          </a:prstGeom>
          <a:ln w="44450">
            <a:solidFill>
              <a:srgbClr val="2563EB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3063240" y="587959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Dr. H. Lee, lead author</a:t>
            </a:r>
          </a:p>
        </p:txBody>
      </p:sp>
      <p:sp>
        <p:nvSpPr>
          <p:cNvPr id="19" name="Oval 18"/>
          <p:cNvSpPr/>
          <p:nvPr/>
        </p:nvSpPr>
        <p:spPr>
          <a:xfrm>
            <a:off x="5257800" y="731520"/>
            <a:ext cx="731520" cy="731520"/>
          </a:xfrm>
          <a:prstGeom prst="ellipse">
            <a:avLst/>
          </a:prstGeom>
          <a:gradFill rotWithShape="1">
            <a:gsLst>
              <a:gs pos="0">
                <a:srgbClr val="D97706"/>
              </a:gs>
              <a:gs pos="100000">
                <a:srgbClr val="E11D4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ymbol"/>
              </a:rPr>
              <a:t>⚡</a:t>
            </a:r>
          </a:p>
        </p:txBody>
      </p:sp>
      <p:pic>
        <p:nvPicPr>
          <p:cNvPr id="20" name="Picture 19" descr="neural_pos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051560"/>
            <a:ext cx="5669280" cy="521208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989320" y="1051560"/>
            <a:ext cx="5669280" cy="5212080"/>
          </a:xfrm>
          <a:prstGeom prst="rect">
            <a:avLst/>
          </a:prstGeom>
          <a:solidFill>
            <a:srgbClr val="0F172A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508760"/>
            <a:ext cx="1097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D97706"/>
                </a:solidFill>
                <a:latin typeface="Calibri"/>
              </a:rPr>
              <a:t>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651760"/>
            <a:ext cx="45720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1">
                <a:solidFill>
                  <a:srgbClr val="FFFFFF"/>
                </a:solidFill>
                <a:latin typeface="Calibri"/>
              </a:rPr>
              <a:t>“Trust the AI more, and</a:t>
            </a:r>
          </a:p>
          <a:p>
            <a:pPr algn="l">
              <a:lnSpc>
                <a:spcPct val="115000"/>
              </a:lnSpc>
            </a:pPr>
            <a:r>
              <a:rPr sz="2600" b="1" i="1">
                <a:solidFill>
                  <a:srgbClr val="FFFFFF"/>
                </a:solidFill>
                <a:latin typeface="Calibri"/>
              </a:rPr>
              <a:t>you stop checking its work.</a:t>
            </a:r>
          </a:p>
          <a:p>
            <a:pPr algn="l">
              <a:lnSpc>
                <a:spcPct val="115000"/>
              </a:lnSpc>
            </a:pPr>
            <a:r>
              <a:rPr sz="2600" b="1" i="1">
                <a:solidFill>
                  <a:srgbClr val="FFFFFF"/>
                </a:solidFill>
                <a:latin typeface="Calibri"/>
              </a:rPr>
              <a:t>Trust YOURSELF more, and</a:t>
            </a:r>
          </a:p>
          <a:p>
            <a:pPr algn="l">
              <a:lnSpc>
                <a:spcPct val="115000"/>
              </a:lnSpc>
            </a:pPr>
            <a:r>
              <a:rPr sz="2600" b="1" i="1">
                <a:solidFill>
                  <a:srgbClr val="FFFFFF"/>
                </a:solidFill>
                <a:latin typeface="Calibri"/>
              </a:rPr>
              <a:t>you start questioning it.”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6692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— it's the confidence balance, not the AI, that drives the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Source: Lee et al., “The Impact of Generative AI on Critical Thinking,” CHI 2025.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